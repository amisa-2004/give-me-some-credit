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Agrandir Bold" charset="1" panose="00000800000000000000"/>
      <p:regular r:id="rId18"/>
    </p:embeddedFont>
    <p:embeddedFont>
      <p:font typeface="League Spartan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18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9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jpe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2" Target="../media/image43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91712">
            <a:off x="-3052267" y="-3490984"/>
            <a:ext cx="7179201" cy="9039368"/>
          </a:xfrm>
          <a:custGeom>
            <a:avLst/>
            <a:gdLst/>
            <a:ahLst/>
            <a:cxnLst/>
            <a:rect r="r" b="b" t="t" l="l"/>
            <a:pathLst>
              <a:path h="9039368" w="7179201">
                <a:moveTo>
                  <a:pt x="0" y="0"/>
                </a:moveTo>
                <a:lnTo>
                  <a:pt x="7179201" y="0"/>
                </a:lnTo>
                <a:lnTo>
                  <a:pt x="7179201" y="9039368"/>
                </a:lnTo>
                <a:lnTo>
                  <a:pt x="0" y="9039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36865" y="1641409"/>
            <a:ext cx="6179500" cy="6600956"/>
            <a:chOff x="0" y="0"/>
            <a:chExt cx="1124862" cy="1201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4862" cy="1201581"/>
            </a:xfrm>
            <a:custGeom>
              <a:avLst/>
              <a:gdLst/>
              <a:ahLst/>
              <a:cxnLst/>
              <a:rect r="r" b="b" t="t" l="l"/>
              <a:pathLst>
                <a:path h="1201581" w="1124862">
                  <a:moveTo>
                    <a:pt x="50114" y="0"/>
                  </a:moveTo>
                  <a:lnTo>
                    <a:pt x="1074749" y="0"/>
                  </a:lnTo>
                  <a:cubicBezTo>
                    <a:pt x="1088040" y="0"/>
                    <a:pt x="1100786" y="5280"/>
                    <a:pt x="1110185" y="14678"/>
                  </a:cubicBezTo>
                  <a:cubicBezTo>
                    <a:pt x="1119583" y="24076"/>
                    <a:pt x="1124862" y="36823"/>
                    <a:pt x="1124862" y="50114"/>
                  </a:cubicBezTo>
                  <a:lnTo>
                    <a:pt x="1124862" y="1151467"/>
                  </a:lnTo>
                  <a:cubicBezTo>
                    <a:pt x="1124862" y="1164758"/>
                    <a:pt x="1119583" y="1177505"/>
                    <a:pt x="1110185" y="1186903"/>
                  </a:cubicBezTo>
                  <a:cubicBezTo>
                    <a:pt x="1100786" y="1196301"/>
                    <a:pt x="1088040" y="1201581"/>
                    <a:pt x="1074749" y="1201581"/>
                  </a:cubicBezTo>
                  <a:lnTo>
                    <a:pt x="50114" y="1201581"/>
                  </a:lnTo>
                  <a:cubicBezTo>
                    <a:pt x="36823" y="1201581"/>
                    <a:pt x="24076" y="1196301"/>
                    <a:pt x="14678" y="1186903"/>
                  </a:cubicBezTo>
                  <a:cubicBezTo>
                    <a:pt x="5280" y="1177505"/>
                    <a:pt x="0" y="1164758"/>
                    <a:pt x="0" y="1151467"/>
                  </a:cubicBezTo>
                  <a:lnTo>
                    <a:pt x="0" y="50114"/>
                  </a:lnTo>
                  <a:cubicBezTo>
                    <a:pt x="0" y="36823"/>
                    <a:pt x="5280" y="24076"/>
                    <a:pt x="14678" y="14678"/>
                  </a:cubicBezTo>
                  <a:cubicBezTo>
                    <a:pt x="24076" y="5280"/>
                    <a:pt x="36823" y="0"/>
                    <a:pt x="50114" y="0"/>
                  </a:cubicBezTo>
                  <a:close/>
                </a:path>
              </a:pathLst>
            </a:custGeom>
            <a:blipFill>
              <a:blip r:embed="rId4"/>
              <a:stretch>
                <a:fillRect l="-30165" t="0" r="-30165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2606523">
            <a:off x="13233160" y="4165794"/>
            <a:ext cx="7179201" cy="9039368"/>
          </a:xfrm>
          <a:custGeom>
            <a:avLst/>
            <a:gdLst/>
            <a:ahLst/>
            <a:cxnLst/>
            <a:rect r="r" b="b" t="t" l="l"/>
            <a:pathLst>
              <a:path h="9039368" w="7179201">
                <a:moveTo>
                  <a:pt x="0" y="0"/>
                </a:moveTo>
                <a:lnTo>
                  <a:pt x="7179201" y="0"/>
                </a:lnTo>
                <a:lnTo>
                  <a:pt x="7179201" y="9039369"/>
                </a:lnTo>
                <a:lnTo>
                  <a:pt x="0" y="9039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6649" y="4101633"/>
            <a:ext cx="2372932" cy="6185367"/>
          </a:xfrm>
          <a:custGeom>
            <a:avLst/>
            <a:gdLst/>
            <a:ahLst/>
            <a:cxnLst/>
            <a:rect r="r" b="b" t="t" l="l"/>
            <a:pathLst>
              <a:path h="6185367" w="2372932">
                <a:moveTo>
                  <a:pt x="0" y="0"/>
                </a:moveTo>
                <a:lnTo>
                  <a:pt x="2372932" y="0"/>
                </a:lnTo>
                <a:lnTo>
                  <a:pt x="2372932" y="6185367"/>
                </a:lnTo>
                <a:lnTo>
                  <a:pt x="0" y="6185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23115" y="542606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19" y="0"/>
                </a:lnTo>
                <a:lnTo>
                  <a:pt x="2121319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16678" y="8993022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32182" y="-143204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8" y="0"/>
                </a:lnTo>
                <a:lnTo>
                  <a:pt x="2304828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20489" y="7104618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35427" y="-294300"/>
            <a:ext cx="4608635" cy="3075216"/>
          </a:xfrm>
          <a:custGeom>
            <a:avLst/>
            <a:gdLst/>
            <a:ahLst/>
            <a:cxnLst/>
            <a:rect r="r" b="b" t="t" l="l"/>
            <a:pathLst>
              <a:path h="3075216" w="4608635">
                <a:moveTo>
                  <a:pt x="0" y="0"/>
                </a:moveTo>
                <a:lnTo>
                  <a:pt x="4608635" y="0"/>
                </a:lnTo>
                <a:lnTo>
                  <a:pt x="4608635" y="3075217"/>
                </a:lnTo>
                <a:lnTo>
                  <a:pt x="0" y="30752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64906" y="6353770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4906" y="6857378"/>
            <a:ext cx="4470521" cy="25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Richa Sinha-2401020973</a:t>
            </a:r>
          </a:p>
          <a:p>
            <a:pPr algn="l">
              <a:lnSpc>
                <a:spcPts val="3363"/>
              </a:lnSpc>
            </a:pPr>
            <a:r>
              <a:rPr lang="en-US" sz="24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Amisa Amrin-2401021086</a:t>
            </a:r>
          </a:p>
          <a:p>
            <a:pPr algn="l">
              <a:lnSpc>
                <a:spcPts val="3363"/>
              </a:lnSpc>
            </a:pPr>
            <a:r>
              <a:rPr lang="en-US" sz="24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Jashmine Naik-2401021099</a:t>
            </a:r>
          </a:p>
          <a:p>
            <a:pPr algn="l">
              <a:lnSpc>
                <a:spcPts val="3363"/>
              </a:lnSpc>
            </a:pPr>
            <a:r>
              <a:rPr lang="en-US" sz="24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Sakshi Jaiswal-2401021131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865331" y="2723767"/>
            <a:ext cx="7071318" cy="280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Give me Some Credits-Default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7717">
            <a:off x="6532535" y="4588157"/>
            <a:ext cx="7179201" cy="9039368"/>
          </a:xfrm>
          <a:custGeom>
            <a:avLst/>
            <a:gdLst/>
            <a:ahLst/>
            <a:cxnLst/>
            <a:rect r="r" b="b" t="t" l="l"/>
            <a:pathLst>
              <a:path h="9039368" w="7179201">
                <a:moveTo>
                  <a:pt x="0" y="0"/>
                </a:moveTo>
                <a:lnTo>
                  <a:pt x="7179201" y="0"/>
                </a:lnTo>
                <a:lnTo>
                  <a:pt x="7179201" y="9039369"/>
                </a:lnTo>
                <a:lnTo>
                  <a:pt x="0" y="9039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10931" y="1626582"/>
            <a:ext cx="6655096" cy="7256931"/>
            <a:chOff x="0" y="0"/>
            <a:chExt cx="901327" cy="982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46532" y="0"/>
                  </a:moveTo>
                  <a:lnTo>
                    <a:pt x="854795" y="0"/>
                  </a:lnTo>
                  <a:cubicBezTo>
                    <a:pt x="880494" y="0"/>
                    <a:pt x="901327" y="20833"/>
                    <a:pt x="901327" y="46532"/>
                  </a:cubicBezTo>
                  <a:lnTo>
                    <a:pt x="901327" y="936304"/>
                  </a:lnTo>
                  <a:cubicBezTo>
                    <a:pt x="901327" y="962003"/>
                    <a:pt x="880494" y="982836"/>
                    <a:pt x="854795" y="982836"/>
                  </a:cubicBezTo>
                  <a:lnTo>
                    <a:pt x="46532" y="982836"/>
                  </a:lnTo>
                  <a:cubicBezTo>
                    <a:pt x="20833" y="982836"/>
                    <a:pt x="0" y="962003"/>
                    <a:pt x="0" y="936304"/>
                  </a:cubicBezTo>
                  <a:lnTo>
                    <a:pt x="0" y="46532"/>
                  </a:lnTo>
                  <a:cubicBezTo>
                    <a:pt x="0" y="20833"/>
                    <a:pt x="20833" y="0"/>
                    <a:pt x="465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63667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52425" y="7042294"/>
            <a:ext cx="574614" cy="530081"/>
          </a:xfrm>
          <a:custGeom>
            <a:avLst/>
            <a:gdLst/>
            <a:ahLst/>
            <a:cxnLst/>
            <a:rect r="r" b="b" t="t" l="l"/>
            <a:pathLst>
              <a:path h="530081" w="574614">
                <a:moveTo>
                  <a:pt x="0" y="0"/>
                </a:moveTo>
                <a:lnTo>
                  <a:pt x="574614" y="0"/>
                </a:lnTo>
                <a:lnTo>
                  <a:pt x="574614" y="530081"/>
                </a:lnTo>
                <a:lnTo>
                  <a:pt x="0" y="530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822" y="9015126"/>
            <a:ext cx="574614" cy="530081"/>
          </a:xfrm>
          <a:custGeom>
            <a:avLst/>
            <a:gdLst/>
            <a:ahLst/>
            <a:cxnLst/>
            <a:rect r="r" b="b" t="t" l="l"/>
            <a:pathLst>
              <a:path h="530081" w="574614">
                <a:moveTo>
                  <a:pt x="0" y="0"/>
                </a:moveTo>
                <a:lnTo>
                  <a:pt x="574614" y="0"/>
                </a:lnTo>
                <a:lnTo>
                  <a:pt x="574614" y="530081"/>
                </a:lnTo>
                <a:lnTo>
                  <a:pt x="0" y="530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75276">
            <a:off x="14897487" y="-145163"/>
            <a:ext cx="2865397" cy="4114800"/>
          </a:xfrm>
          <a:custGeom>
            <a:avLst/>
            <a:gdLst/>
            <a:ahLst/>
            <a:cxnLst/>
            <a:rect r="r" b="b" t="t" l="l"/>
            <a:pathLst>
              <a:path h="4114800" w="2865397">
                <a:moveTo>
                  <a:pt x="0" y="0"/>
                </a:moveTo>
                <a:lnTo>
                  <a:pt x="2865397" y="0"/>
                </a:lnTo>
                <a:lnTo>
                  <a:pt x="28653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4434" y="814596"/>
            <a:ext cx="3033682" cy="1097641"/>
          </a:xfrm>
          <a:custGeom>
            <a:avLst/>
            <a:gdLst/>
            <a:ahLst/>
            <a:cxnLst/>
            <a:rect r="r" b="b" t="t" l="l"/>
            <a:pathLst>
              <a:path h="1097641" w="3033682">
                <a:moveTo>
                  <a:pt x="0" y="0"/>
                </a:moveTo>
                <a:lnTo>
                  <a:pt x="3033682" y="0"/>
                </a:lnTo>
                <a:lnTo>
                  <a:pt x="3033682" y="1097641"/>
                </a:lnTo>
                <a:lnTo>
                  <a:pt x="0" y="10976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78193" y="8221821"/>
            <a:ext cx="3657600" cy="1323386"/>
          </a:xfrm>
          <a:custGeom>
            <a:avLst/>
            <a:gdLst/>
            <a:ahLst/>
            <a:cxnLst/>
            <a:rect r="r" b="b" t="t" l="l"/>
            <a:pathLst>
              <a:path h="1323386" w="3657600">
                <a:moveTo>
                  <a:pt x="0" y="0"/>
                </a:moveTo>
                <a:lnTo>
                  <a:pt x="3657600" y="0"/>
                </a:lnTo>
                <a:lnTo>
                  <a:pt x="3657600" y="1323386"/>
                </a:lnTo>
                <a:lnTo>
                  <a:pt x="0" y="1323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975303"/>
            <a:ext cx="7869287" cy="207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To build a classification model that predicts.</a:t>
            </a:r>
          </a:p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1 → Financial Distress (Default)</a:t>
            </a:r>
          </a:p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0 → No Financial Distress</a:t>
            </a:r>
          </a:p>
          <a:p>
            <a:pPr algn="l">
              <a:lnSpc>
                <a:spcPts val="2938"/>
              </a:lnSpc>
            </a:pPr>
            <a:r>
              <a:rPr lang="en-US" sz="2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This is a binary classification problem where the goal is to estimate the probability that a borrower will default.</a:t>
            </a:r>
          </a:p>
          <a:p>
            <a:pPr algn="l">
              <a:lnSpc>
                <a:spcPts val="156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26436" y="155298"/>
            <a:ext cx="6658648" cy="208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111217"/>
            <a:ext cx="8585676" cy="174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1987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Predict whether a customer will default (SeriousDlqin2yrs = 1) within the next 2 years.Why it is Important?</a:t>
            </a:r>
          </a:p>
          <a:p>
            <a:pPr algn="l">
              <a:lnSpc>
                <a:spcPts val="2782"/>
              </a:lnSpc>
            </a:pPr>
            <a:r>
              <a:rPr lang="en-US" sz="1987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Reduces financial loss</a:t>
            </a:r>
          </a:p>
          <a:p>
            <a:pPr algn="l">
              <a:lnSpc>
                <a:spcPts val="2782"/>
              </a:lnSpc>
            </a:pPr>
            <a:r>
              <a:rPr lang="en-US" sz="1987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Improves credit risk management</a:t>
            </a:r>
          </a:p>
          <a:p>
            <a:pPr algn="l">
              <a:lnSpc>
                <a:spcPts val="2782"/>
              </a:lnSpc>
            </a:pPr>
            <a:r>
              <a:rPr lang="en-US" sz="1987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Helps in better loan approval decisions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420489" y="244200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908531"/>
            <a:ext cx="7067624" cy="280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</a:p>
          <a:p>
            <a:pPr algn="l">
              <a:lnSpc>
                <a:spcPts val="3224"/>
              </a:lnSpc>
            </a:pPr>
            <a:r>
              <a:rPr lang="en-US" sz="2303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The Give Me Some Credit dataset (from Kaggle) focuses on predicting whether a borrower will face serious financial distress within the next 2 years. Financial distress usually means the borrower is likely to default on loan payments (e.g., 90+ days past due).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4340" y="5198527"/>
            <a:ext cx="5444357" cy="102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u="sng">
                <a:solidFill>
                  <a:srgbClr val="0B0A0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8318" y="1524623"/>
            <a:ext cx="4803145" cy="7247342"/>
            <a:chOff x="0" y="0"/>
            <a:chExt cx="917583" cy="1384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7583" cy="1384518"/>
            </a:xfrm>
            <a:custGeom>
              <a:avLst/>
              <a:gdLst/>
              <a:ahLst/>
              <a:cxnLst/>
              <a:rect r="r" b="b" t="t" l="l"/>
              <a:pathLst>
                <a:path h="1384518" w="917583">
                  <a:moveTo>
                    <a:pt x="64474" y="0"/>
                  </a:moveTo>
                  <a:lnTo>
                    <a:pt x="853109" y="0"/>
                  </a:lnTo>
                  <a:cubicBezTo>
                    <a:pt x="888717" y="0"/>
                    <a:pt x="917583" y="28866"/>
                    <a:pt x="917583" y="64474"/>
                  </a:cubicBezTo>
                  <a:lnTo>
                    <a:pt x="917583" y="1320044"/>
                  </a:lnTo>
                  <a:cubicBezTo>
                    <a:pt x="917583" y="1355652"/>
                    <a:pt x="888717" y="1384518"/>
                    <a:pt x="853109" y="1384518"/>
                  </a:cubicBezTo>
                  <a:lnTo>
                    <a:pt x="64474" y="1384518"/>
                  </a:lnTo>
                  <a:cubicBezTo>
                    <a:pt x="28866" y="1384518"/>
                    <a:pt x="0" y="1355652"/>
                    <a:pt x="0" y="1320044"/>
                  </a:cubicBezTo>
                  <a:lnTo>
                    <a:pt x="0" y="64474"/>
                  </a:lnTo>
                  <a:cubicBezTo>
                    <a:pt x="0" y="28866"/>
                    <a:pt x="28866" y="0"/>
                    <a:pt x="64474" y="0"/>
                  </a:cubicBezTo>
                  <a:close/>
                </a:path>
              </a:pathLst>
            </a:custGeom>
            <a:blipFill>
              <a:blip r:embed="rId2"/>
              <a:stretch>
                <a:fillRect l="-69889" t="0" r="-98952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true" flipV="false" rot="7186521">
            <a:off x="12309610" y="-4191146"/>
            <a:ext cx="7965456" cy="10029346"/>
          </a:xfrm>
          <a:custGeom>
            <a:avLst/>
            <a:gdLst/>
            <a:ahLst/>
            <a:cxnLst/>
            <a:rect r="r" b="b" t="t" l="l"/>
            <a:pathLst>
              <a:path h="10029346" w="7965456">
                <a:moveTo>
                  <a:pt x="7965456" y="0"/>
                </a:moveTo>
                <a:lnTo>
                  <a:pt x="0" y="0"/>
                </a:lnTo>
                <a:lnTo>
                  <a:pt x="0" y="10029346"/>
                </a:lnTo>
                <a:lnTo>
                  <a:pt x="7965456" y="10029346"/>
                </a:lnTo>
                <a:lnTo>
                  <a:pt x="796545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626976" y="5021765"/>
            <a:ext cx="3826850" cy="3715765"/>
            <a:chOff x="0" y="0"/>
            <a:chExt cx="1168104" cy="1134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104" cy="1134196"/>
            </a:xfrm>
            <a:custGeom>
              <a:avLst/>
              <a:gdLst/>
              <a:ahLst/>
              <a:cxnLst/>
              <a:rect r="r" b="b" t="t" l="l"/>
              <a:pathLst>
                <a:path h="1134196" w="1168104">
                  <a:moveTo>
                    <a:pt x="80922" y="0"/>
                  </a:moveTo>
                  <a:lnTo>
                    <a:pt x="1087182" y="0"/>
                  </a:lnTo>
                  <a:cubicBezTo>
                    <a:pt x="1131874" y="0"/>
                    <a:pt x="1168104" y="36230"/>
                    <a:pt x="1168104" y="80922"/>
                  </a:cubicBezTo>
                  <a:lnTo>
                    <a:pt x="1168104" y="1053274"/>
                  </a:lnTo>
                  <a:cubicBezTo>
                    <a:pt x="1168104" y="1097966"/>
                    <a:pt x="1131874" y="1134196"/>
                    <a:pt x="1087182" y="1134196"/>
                  </a:cubicBezTo>
                  <a:lnTo>
                    <a:pt x="80922" y="1134196"/>
                  </a:lnTo>
                  <a:cubicBezTo>
                    <a:pt x="36230" y="1134196"/>
                    <a:pt x="0" y="1097966"/>
                    <a:pt x="0" y="1053274"/>
                  </a:cubicBezTo>
                  <a:lnTo>
                    <a:pt x="0" y="80922"/>
                  </a:lnTo>
                  <a:cubicBezTo>
                    <a:pt x="0" y="36230"/>
                    <a:pt x="36230" y="0"/>
                    <a:pt x="80922" y="0"/>
                  </a:cubicBezTo>
                  <a:close/>
                </a:path>
              </a:pathLst>
            </a:custGeom>
            <a:blipFill>
              <a:blip r:embed="rId5"/>
              <a:stretch>
                <a:fillRect l="-22868" t="0" r="-22868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397430" y="3849759"/>
            <a:ext cx="574614" cy="530081"/>
          </a:xfrm>
          <a:custGeom>
            <a:avLst/>
            <a:gdLst/>
            <a:ahLst/>
            <a:cxnLst/>
            <a:rect r="r" b="b" t="t" l="l"/>
            <a:pathLst>
              <a:path h="530081" w="574614">
                <a:moveTo>
                  <a:pt x="0" y="0"/>
                </a:moveTo>
                <a:lnTo>
                  <a:pt x="574614" y="0"/>
                </a:lnTo>
                <a:lnTo>
                  <a:pt x="574614" y="530082"/>
                </a:lnTo>
                <a:lnTo>
                  <a:pt x="0" y="530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7430" y="6018662"/>
            <a:ext cx="574614" cy="530081"/>
          </a:xfrm>
          <a:custGeom>
            <a:avLst/>
            <a:gdLst/>
            <a:ahLst/>
            <a:cxnLst/>
            <a:rect r="r" b="b" t="t" l="l"/>
            <a:pathLst>
              <a:path h="530081" w="574614">
                <a:moveTo>
                  <a:pt x="0" y="0"/>
                </a:moveTo>
                <a:lnTo>
                  <a:pt x="574614" y="0"/>
                </a:lnTo>
                <a:lnTo>
                  <a:pt x="574614" y="530082"/>
                </a:lnTo>
                <a:lnTo>
                  <a:pt x="0" y="530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97430" y="8687382"/>
            <a:ext cx="574614" cy="530081"/>
          </a:xfrm>
          <a:custGeom>
            <a:avLst/>
            <a:gdLst/>
            <a:ahLst/>
            <a:cxnLst/>
            <a:rect r="r" b="b" t="t" l="l"/>
            <a:pathLst>
              <a:path h="530081" w="574614">
                <a:moveTo>
                  <a:pt x="0" y="0"/>
                </a:moveTo>
                <a:lnTo>
                  <a:pt x="574614" y="0"/>
                </a:lnTo>
                <a:lnTo>
                  <a:pt x="574614" y="530081"/>
                </a:lnTo>
                <a:lnTo>
                  <a:pt x="0" y="530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90838" y="0"/>
            <a:ext cx="5097162" cy="4114800"/>
          </a:xfrm>
          <a:custGeom>
            <a:avLst/>
            <a:gdLst/>
            <a:ahLst/>
            <a:cxnLst/>
            <a:rect r="r" b="b" t="t" l="l"/>
            <a:pathLst>
              <a:path h="4114800" w="5097162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76308" y="1410323"/>
            <a:ext cx="705066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Used:Train.CSV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83944" y="3616546"/>
            <a:ext cx="495587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Target Variable: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SeriousDlqin2yrs (0 = No Default, 1 = Default)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4650" y="4955090"/>
            <a:ext cx="6654932" cy="356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Important Features: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RevolvingUtilizationOfUnsecuredLines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DebtRatio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MonthlyIncome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NumberOfTimes90DaysLate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NumberOfDependents</a:t>
            </a:r>
          </a:p>
          <a:p>
            <a:pPr algn="l" marL="488419" indent="-244210" lvl="1">
              <a:lnSpc>
                <a:spcPts val="3167"/>
              </a:lnSpc>
              <a:buFont typeface="Arial"/>
              <a:buChar char="•"/>
            </a:pPr>
            <a:r>
              <a:rPr lang="en-US" sz="2262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NumberOfOpenCreditLinesAndLoans</a:t>
            </a:r>
          </a:p>
          <a:p>
            <a:pPr algn="l">
              <a:lnSpc>
                <a:spcPts val="316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483944" y="8373548"/>
            <a:ext cx="386736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Dataset Size: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~150,000 records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459200" y="8110273"/>
            <a:ext cx="3657600" cy="1323386"/>
          </a:xfrm>
          <a:custGeom>
            <a:avLst/>
            <a:gdLst/>
            <a:ahLst/>
            <a:cxnLst/>
            <a:rect r="r" b="b" t="t" l="l"/>
            <a:pathLst>
              <a:path h="1323386" w="3657600">
                <a:moveTo>
                  <a:pt x="0" y="0"/>
                </a:moveTo>
                <a:lnTo>
                  <a:pt x="3657600" y="0"/>
                </a:lnTo>
                <a:lnTo>
                  <a:pt x="3657600" y="1323386"/>
                </a:lnTo>
                <a:lnTo>
                  <a:pt x="0" y="1323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828800" y="367007"/>
            <a:ext cx="3657600" cy="1323386"/>
          </a:xfrm>
          <a:custGeom>
            <a:avLst/>
            <a:gdLst/>
            <a:ahLst/>
            <a:cxnLst/>
            <a:rect r="r" b="b" t="t" l="l"/>
            <a:pathLst>
              <a:path h="1323386" w="3657600">
                <a:moveTo>
                  <a:pt x="0" y="0"/>
                </a:moveTo>
                <a:lnTo>
                  <a:pt x="3657600" y="0"/>
                </a:lnTo>
                <a:lnTo>
                  <a:pt x="3657600" y="1323386"/>
                </a:lnTo>
                <a:lnTo>
                  <a:pt x="0" y="1323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796813" y="9460671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3100" y="5704931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5" y="0"/>
                </a:lnTo>
                <a:lnTo>
                  <a:pt x="1455625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1383" y="5704931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493310" y="7449520"/>
            <a:ext cx="4662112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 flipV="true">
            <a:off x="1951711" y="7449520"/>
            <a:ext cx="2039202" cy="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1848395" y="7449520"/>
            <a:ext cx="2116676" cy="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819057" y="7449520"/>
            <a:ext cx="4507152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543057" y="5704931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54548" y="4707755"/>
            <a:ext cx="3220200" cy="3138232"/>
          </a:xfrm>
          <a:custGeom>
            <a:avLst/>
            <a:gdLst/>
            <a:ahLst/>
            <a:cxnLst/>
            <a:rect r="r" b="b" t="t" l="l"/>
            <a:pathLst>
              <a:path h="3138232" w="3220200">
                <a:moveTo>
                  <a:pt x="0" y="0"/>
                </a:moveTo>
                <a:lnTo>
                  <a:pt x="3220200" y="0"/>
                </a:lnTo>
                <a:lnTo>
                  <a:pt x="3220200" y="3138232"/>
                </a:lnTo>
                <a:lnTo>
                  <a:pt x="0" y="313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106250" y="1291417"/>
            <a:ext cx="5097162" cy="4114800"/>
          </a:xfrm>
          <a:custGeom>
            <a:avLst/>
            <a:gdLst/>
            <a:ahLst/>
            <a:cxnLst/>
            <a:rect r="r" b="b" t="t" l="l"/>
            <a:pathLst>
              <a:path h="4114800" w="5097162">
                <a:moveTo>
                  <a:pt x="0" y="0"/>
                </a:moveTo>
                <a:lnTo>
                  <a:pt x="5097163" y="0"/>
                </a:lnTo>
                <a:lnTo>
                  <a:pt x="50971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02945" y="727858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4"/>
                </a:lnTo>
                <a:lnTo>
                  <a:pt x="0" y="601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137980" y="8656617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940256">
            <a:off x="12776643" y="-4582947"/>
            <a:ext cx="7429591" cy="9354636"/>
          </a:xfrm>
          <a:custGeom>
            <a:avLst/>
            <a:gdLst/>
            <a:ahLst/>
            <a:cxnLst/>
            <a:rect r="r" b="b" t="t" l="l"/>
            <a:pathLst>
              <a:path h="9354636" w="7429591">
                <a:moveTo>
                  <a:pt x="0" y="0"/>
                </a:moveTo>
                <a:lnTo>
                  <a:pt x="7429591" y="0"/>
                </a:lnTo>
                <a:lnTo>
                  <a:pt x="7429591" y="9354636"/>
                </a:lnTo>
                <a:lnTo>
                  <a:pt x="0" y="93546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639251">
            <a:off x="-943696" y="6646631"/>
            <a:ext cx="6124829" cy="7711804"/>
          </a:xfrm>
          <a:custGeom>
            <a:avLst/>
            <a:gdLst/>
            <a:ahLst/>
            <a:cxnLst/>
            <a:rect r="r" b="b" t="t" l="l"/>
            <a:pathLst>
              <a:path h="7711804" w="6124829">
                <a:moveTo>
                  <a:pt x="0" y="0"/>
                </a:moveTo>
                <a:lnTo>
                  <a:pt x="6124830" y="0"/>
                </a:lnTo>
                <a:lnTo>
                  <a:pt x="6124830" y="7711804"/>
                </a:lnTo>
                <a:lnTo>
                  <a:pt x="0" y="7711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707187" y="1341853"/>
            <a:ext cx="1193873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9"/>
              </a:lnSpc>
              <a:spcBef>
                <a:spcPct val="0"/>
              </a:spcBef>
            </a:pPr>
            <a:r>
              <a:rPr lang="en-US" b="true" sz="7499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Preprocessing And Data Cleaning Steps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3217" y="7878145"/>
            <a:ext cx="4412418" cy="240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Handled missing values in:</a:t>
            </a:r>
          </a:p>
          <a:p>
            <a:pPr algn="ctr">
              <a:lnSpc>
                <a:spcPts val="3220"/>
              </a:lnSpc>
            </a:pPr>
          </a:p>
          <a:p>
            <a:pPr algn="l" marL="496633" indent="-248317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MonthlyIncome</a:t>
            </a:r>
          </a:p>
          <a:p>
            <a:pPr algn="l" marL="496633" indent="-248317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NumberOfDependents</a:t>
            </a:r>
          </a:p>
          <a:p>
            <a:pPr algn="l" marL="496633" indent="-248317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Checked for outliers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087468" y="7988112"/>
            <a:ext cx="2589084" cy="162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</a:pPr>
            <a:r>
              <a:rPr lang="en-US" sz="2329" b="tru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Split data into:</a:t>
            </a:r>
          </a:p>
          <a:p>
            <a:pPr algn="ctr">
              <a:lnSpc>
                <a:spcPts val="3260"/>
              </a:lnSpc>
            </a:pPr>
          </a:p>
          <a:p>
            <a:pPr algn="l" marL="502875" indent="-251437" lvl="1">
              <a:lnSpc>
                <a:spcPts val="3260"/>
              </a:lnSpc>
              <a:buFont typeface="Arial"/>
              <a:buChar char="•"/>
            </a:pPr>
            <a:r>
              <a:rPr lang="en-US" b="true" sz="232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set</a:t>
            </a:r>
          </a:p>
          <a:p>
            <a:pPr algn="l" marL="502875" indent="-251437" lvl="1">
              <a:lnSpc>
                <a:spcPts val="3260"/>
              </a:lnSpc>
              <a:buFont typeface="Arial"/>
              <a:buChar char="•"/>
            </a:pPr>
            <a:r>
              <a:rPr lang="en-US" b="true" sz="232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9392" y="7878145"/>
            <a:ext cx="4988589" cy="160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Why preprocessing?</a:t>
            </a:r>
          </a:p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Clean data improves model accuracy and reliability.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186610" y="948353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096554" y="-1547636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489880" y="4494628"/>
            <a:ext cx="8508802" cy="43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B0A0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Removed unrealistic ages (age = 0 and age &gt; 100)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08997">
            <a:off x="-765653" y="-493492"/>
            <a:ext cx="7429591" cy="9354636"/>
          </a:xfrm>
          <a:custGeom>
            <a:avLst/>
            <a:gdLst/>
            <a:ahLst/>
            <a:cxnLst/>
            <a:rect r="r" b="b" t="t" l="l"/>
            <a:pathLst>
              <a:path h="9354636" w="7429591">
                <a:moveTo>
                  <a:pt x="0" y="0"/>
                </a:moveTo>
                <a:lnTo>
                  <a:pt x="7429591" y="0"/>
                </a:lnTo>
                <a:lnTo>
                  <a:pt x="7429591" y="9354635"/>
                </a:lnTo>
                <a:lnTo>
                  <a:pt x="0" y="9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71654" y="3829073"/>
            <a:ext cx="3238775" cy="1171848"/>
          </a:xfrm>
          <a:custGeom>
            <a:avLst/>
            <a:gdLst/>
            <a:ahLst/>
            <a:cxnLst/>
            <a:rect r="r" b="b" t="t" l="l"/>
            <a:pathLst>
              <a:path h="1171848" w="3238775">
                <a:moveTo>
                  <a:pt x="0" y="0"/>
                </a:moveTo>
                <a:lnTo>
                  <a:pt x="3238775" y="0"/>
                </a:lnTo>
                <a:lnTo>
                  <a:pt x="3238775" y="1171847"/>
                </a:lnTo>
                <a:lnTo>
                  <a:pt x="0" y="117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90068" y="-457753"/>
            <a:ext cx="3238775" cy="1171848"/>
          </a:xfrm>
          <a:custGeom>
            <a:avLst/>
            <a:gdLst/>
            <a:ahLst/>
            <a:cxnLst/>
            <a:rect r="r" b="b" t="t" l="l"/>
            <a:pathLst>
              <a:path h="1171848" w="3238775">
                <a:moveTo>
                  <a:pt x="0" y="0"/>
                </a:moveTo>
                <a:lnTo>
                  <a:pt x="3238775" y="0"/>
                </a:lnTo>
                <a:lnTo>
                  <a:pt x="3238775" y="1171848"/>
                </a:lnTo>
                <a:lnTo>
                  <a:pt x="0" y="1171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53133" y="1028700"/>
            <a:ext cx="6929107" cy="8229600"/>
            <a:chOff x="0" y="0"/>
            <a:chExt cx="899880" cy="1068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9880" cy="1068775"/>
            </a:xfrm>
            <a:custGeom>
              <a:avLst/>
              <a:gdLst/>
              <a:ahLst/>
              <a:cxnLst/>
              <a:rect r="r" b="b" t="t" l="l"/>
              <a:pathLst>
                <a:path h="1068775" w="899880">
                  <a:moveTo>
                    <a:pt x="44692" y="0"/>
                  </a:moveTo>
                  <a:lnTo>
                    <a:pt x="855188" y="0"/>
                  </a:lnTo>
                  <a:cubicBezTo>
                    <a:pt x="879871" y="0"/>
                    <a:pt x="899880" y="20009"/>
                    <a:pt x="899880" y="44692"/>
                  </a:cubicBezTo>
                  <a:lnTo>
                    <a:pt x="899880" y="1024083"/>
                  </a:lnTo>
                  <a:cubicBezTo>
                    <a:pt x="899880" y="1048765"/>
                    <a:pt x="879871" y="1068775"/>
                    <a:pt x="855188" y="1068775"/>
                  </a:cubicBezTo>
                  <a:lnTo>
                    <a:pt x="44692" y="1068775"/>
                  </a:lnTo>
                  <a:cubicBezTo>
                    <a:pt x="20009" y="1068775"/>
                    <a:pt x="0" y="1048765"/>
                    <a:pt x="0" y="1024083"/>
                  </a:cubicBezTo>
                  <a:lnTo>
                    <a:pt x="0" y="44692"/>
                  </a:lnTo>
                  <a:cubicBezTo>
                    <a:pt x="0" y="20009"/>
                    <a:pt x="20009" y="0"/>
                    <a:pt x="44692" y="0"/>
                  </a:cubicBezTo>
                  <a:close/>
                </a:path>
              </a:pathLst>
            </a:custGeom>
            <a:blipFill>
              <a:blip r:embed="rId6"/>
              <a:stretch>
                <a:fillRect l="-39132" t="0" r="-39132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16344" y="4820666"/>
            <a:ext cx="3862083" cy="3951299"/>
            <a:chOff x="0" y="0"/>
            <a:chExt cx="1017199" cy="1040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2983C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33622" y="4925258"/>
            <a:ext cx="4287585" cy="3951299"/>
            <a:chOff x="0" y="0"/>
            <a:chExt cx="1129268" cy="1040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9268" cy="1040725"/>
            </a:xfrm>
            <a:custGeom>
              <a:avLst/>
              <a:gdLst/>
              <a:ahLst/>
              <a:cxnLst/>
              <a:rect r="r" b="b" t="t" l="l"/>
              <a:pathLst>
                <a:path h="1040725" w="1129268">
                  <a:moveTo>
                    <a:pt x="1129268" y="63198"/>
                  </a:moveTo>
                  <a:lnTo>
                    <a:pt x="1129268" y="977527"/>
                  </a:lnTo>
                  <a:cubicBezTo>
                    <a:pt x="1129268" y="1012430"/>
                    <a:pt x="1100974" y="1040725"/>
                    <a:pt x="1066070" y="1040725"/>
                  </a:cubicBezTo>
                  <a:lnTo>
                    <a:pt x="63198" y="1040725"/>
                  </a:lnTo>
                  <a:cubicBezTo>
                    <a:pt x="46437" y="1040725"/>
                    <a:pt x="30362" y="1034066"/>
                    <a:pt x="18510" y="1022214"/>
                  </a:cubicBezTo>
                  <a:cubicBezTo>
                    <a:pt x="6658" y="1010363"/>
                    <a:pt x="0" y="994288"/>
                    <a:pt x="0" y="977527"/>
                  </a:cubicBezTo>
                  <a:lnTo>
                    <a:pt x="0" y="63198"/>
                  </a:lnTo>
                  <a:cubicBezTo>
                    <a:pt x="0" y="46437"/>
                    <a:pt x="6658" y="30362"/>
                    <a:pt x="18510" y="18510"/>
                  </a:cubicBezTo>
                  <a:cubicBezTo>
                    <a:pt x="30362" y="6658"/>
                    <a:pt x="46437" y="0"/>
                    <a:pt x="63198" y="0"/>
                  </a:cubicBezTo>
                  <a:lnTo>
                    <a:pt x="1066070" y="0"/>
                  </a:lnTo>
                  <a:cubicBezTo>
                    <a:pt x="1082831" y="0"/>
                    <a:pt x="1098906" y="6658"/>
                    <a:pt x="1110758" y="18510"/>
                  </a:cubicBezTo>
                  <a:cubicBezTo>
                    <a:pt x="1122610" y="30362"/>
                    <a:pt x="1129268" y="46437"/>
                    <a:pt x="1129268" y="63198"/>
                  </a:cubicBezTo>
                  <a:close/>
                </a:path>
              </a:pathLst>
            </a:custGeom>
            <a:solidFill>
              <a:srgbClr val="2983C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29268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867121" y="6601950"/>
            <a:ext cx="3092948" cy="0"/>
          </a:xfrm>
          <a:prstGeom prst="line">
            <a:avLst/>
          </a:prstGeom>
          <a:ln cap="rnd" w="19050">
            <a:solidFill>
              <a:srgbClr val="F5F9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417537" y="6601950"/>
            <a:ext cx="3092948" cy="0"/>
          </a:xfrm>
          <a:prstGeom prst="line">
            <a:avLst/>
          </a:prstGeom>
          <a:ln cap="rnd" w="19050">
            <a:solidFill>
              <a:srgbClr val="F5F9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617176" y="4820666"/>
            <a:ext cx="3862083" cy="3951299"/>
            <a:chOff x="0" y="0"/>
            <a:chExt cx="1017199" cy="1040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7199" cy="1040725"/>
            </a:xfrm>
            <a:custGeom>
              <a:avLst/>
              <a:gdLst/>
              <a:ahLst/>
              <a:cxnLst/>
              <a:rect r="r" b="b" t="t" l="l"/>
              <a:pathLst>
                <a:path h="1040725" w="1017199">
                  <a:moveTo>
                    <a:pt x="1017199" y="70161"/>
                  </a:moveTo>
                  <a:lnTo>
                    <a:pt x="1017199" y="970564"/>
                  </a:lnTo>
                  <a:cubicBezTo>
                    <a:pt x="1017199" y="989172"/>
                    <a:pt x="1009807" y="1007017"/>
                    <a:pt x="996649" y="1020175"/>
                  </a:cubicBezTo>
                  <a:cubicBezTo>
                    <a:pt x="983492" y="1033333"/>
                    <a:pt x="965646" y="1040725"/>
                    <a:pt x="947038" y="1040725"/>
                  </a:cubicBezTo>
                  <a:lnTo>
                    <a:pt x="70161" y="1040725"/>
                  </a:lnTo>
                  <a:cubicBezTo>
                    <a:pt x="51553" y="1040725"/>
                    <a:pt x="33707" y="1033333"/>
                    <a:pt x="20550" y="1020175"/>
                  </a:cubicBezTo>
                  <a:cubicBezTo>
                    <a:pt x="7392" y="1007017"/>
                    <a:pt x="0" y="989172"/>
                    <a:pt x="0" y="97056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2983C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17199" cy="109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967953" y="6601950"/>
            <a:ext cx="3092948" cy="0"/>
          </a:xfrm>
          <a:prstGeom prst="line">
            <a:avLst/>
          </a:prstGeom>
          <a:ln cap="rnd" w="19050">
            <a:solidFill>
              <a:srgbClr val="F5F9FF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-1024904">
            <a:off x="9722516" y="1137469"/>
            <a:ext cx="3171016" cy="1919906"/>
          </a:xfrm>
          <a:custGeom>
            <a:avLst/>
            <a:gdLst/>
            <a:ahLst/>
            <a:cxnLst/>
            <a:rect r="r" b="b" t="t" l="l"/>
            <a:pathLst>
              <a:path h="1919906" w="3171016">
                <a:moveTo>
                  <a:pt x="0" y="0"/>
                </a:moveTo>
                <a:lnTo>
                  <a:pt x="3171015" y="0"/>
                </a:lnTo>
                <a:lnTo>
                  <a:pt x="3171015" y="1919906"/>
                </a:lnTo>
                <a:lnTo>
                  <a:pt x="0" y="19199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15034" y="2318026"/>
            <a:ext cx="8340338" cy="116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9"/>
              </a:lnSpc>
              <a:spcBef>
                <a:spcPct val="0"/>
              </a:spcBef>
            </a:pPr>
            <a:r>
              <a:rPr lang="en-US" b="true" sz="6799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Logistic Regression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67303" y="6621070"/>
            <a:ext cx="3570351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Suitable for binary classification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Simple and interpretable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probability 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43683" y="6764785"/>
            <a:ext cx="3835222" cy="197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729" indent="-200865" lvl="1">
              <a:lnSpc>
                <a:spcPts val="2605"/>
              </a:lnSpc>
              <a:buFont typeface="Arial"/>
              <a:buChar char="•"/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Easy to understand</a:t>
            </a:r>
          </a:p>
          <a:p>
            <a:pPr algn="l" marL="401729" indent="-200865" lvl="1">
              <a:lnSpc>
                <a:spcPts val="2605"/>
              </a:lnSpc>
              <a:buFont typeface="Arial"/>
              <a:buChar char="•"/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 to train</a:t>
            </a:r>
          </a:p>
          <a:p>
            <a:pPr algn="l" marL="401729" indent="-200865" lvl="1">
              <a:lnSpc>
                <a:spcPts val="2605"/>
              </a:lnSpc>
              <a:buFont typeface="Arial"/>
              <a:buChar char="•"/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 well with scaled data</a:t>
            </a:r>
          </a:p>
          <a:p>
            <a:pPr algn="l">
              <a:lnSpc>
                <a:spcPts val="2605"/>
              </a:lnSpc>
            </a:pPr>
          </a:p>
          <a:p>
            <a:pPr algn="ctr">
              <a:lnSpc>
                <a:spcPts val="2605"/>
              </a:lnSpc>
            </a:pPr>
            <a:r>
              <a:rPr lang="en-US" sz="18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Cannot capture complex non-linear relationships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8024" y="7221075"/>
            <a:ext cx="269048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ROC-AUC Score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537654" y="948353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8" y="0"/>
                </a:lnTo>
                <a:lnTo>
                  <a:pt x="2304828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16344" y="5357467"/>
            <a:ext cx="3554070" cy="65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Used 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67371" y="4879493"/>
            <a:ext cx="2460861" cy="172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6"/>
              </a:lnSpc>
              <a:spcBef>
                <a:spcPct val="0"/>
              </a:spcBef>
            </a:pPr>
            <a:r>
              <a:rPr lang="en-US" sz="32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Strengths and Limitations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73658" y="5340386"/>
            <a:ext cx="3595241" cy="58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0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 Metric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427214">
            <a:off x="-1180566" y="1824841"/>
            <a:ext cx="8418850" cy="10600217"/>
          </a:xfrm>
          <a:custGeom>
            <a:avLst/>
            <a:gdLst/>
            <a:ahLst/>
            <a:cxnLst/>
            <a:rect r="r" b="b" t="t" l="l"/>
            <a:pathLst>
              <a:path h="10600217" w="8418850">
                <a:moveTo>
                  <a:pt x="8418850" y="0"/>
                </a:moveTo>
                <a:lnTo>
                  <a:pt x="0" y="0"/>
                </a:lnTo>
                <a:lnTo>
                  <a:pt x="0" y="10600217"/>
                </a:lnTo>
                <a:lnTo>
                  <a:pt x="8418850" y="10600217"/>
                </a:lnTo>
                <a:lnTo>
                  <a:pt x="841885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0180" y="-693469"/>
            <a:ext cx="6908979" cy="5462396"/>
            <a:chOff x="0" y="0"/>
            <a:chExt cx="1070382" cy="846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0382" cy="846268"/>
            </a:xfrm>
            <a:custGeom>
              <a:avLst/>
              <a:gdLst/>
              <a:ahLst/>
              <a:cxnLst/>
              <a:rect r="r" b="b" t="t" l="l"/>
              <a:pathLst>
                <a:path h="846268" w="1070382">
                  <a:moveTo>
                    <a:pt x="44822" y="0"/>
                  </a:moveTo>
                  <a:lnTo>
                    <a:pt x="1025559" y="0"/>
                  </a:lnTo>
                  <a:cubicBezTo>
                    <a:pt x="1050314" y="0"/>
                    <a:pt x="1070382" y="20068"/>
                    <a:pt x="1070382" y="44822"/>
                  </a:cubicBezTo>
                  <a:lnTo>
                    <a:pt x="1070382" y="801446"/>
                  </a:lnTo>
                  <a:cubicBezTo>
                    <a:pt x="1070382" y="826200"/>
                    <a:pt x="1050314" y="846268"/>
                    <a:pt x="1025559" y="846268"/>
                  </a:cubicBezTo>
                  <a:lnTo>
                    <a:pt x="44822" y="846268"/>
                  </a:lnTo>
                  <a:cubicBezTo>
                    <a:pt x="20068" y="846268"/>
                    <a:pt x="0" y="826200"/>
                    <a:pt x="0" y="801446"/>
                  </a:cubicBezTo>
                  <a:lnTo>
                    <a:pt x="0" y="44822"/>
                  </a:lnTo>
                  <a:cubicBezTo>
                    <a:pt x="0" y="20068"/>
                    <a:pt x="20068" y="0"/>
                    <a:pt x="44822" y="0"/>
                  </a:cubicBezTo>
                  <a:close/>
                </a:path>
              </a:pathLst>
            </a:custGeom>
            <a:blipFill>
              <a:blip r:embed="rId4"/>
              <a:stretch>
                <a:fillRect l="-9333" t="0" r="-9333" b="0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6280018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78891" y="210376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00558" y="6280018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63840" y="2103760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7" y="0"/>
                </a:lnTo>
                <a:lnTo>
                  <a:pt x="996487" y="996487"/>
                </a:lnTo>
                <a:lnTo>
                  <a:pt x="0" y="996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857589">
            <a:off x="4918833" y="6494854"/>
            <a:ext cx="3938000" cy="4255206"/>
          </a:xfrm>
          <a:custGeom>
            <a:avLst/>
            <a:gdLst/>
            <a:ahLst/>
            <a:cxnLst/>
            <a:rect r="r" b="b" t="t" l="l"/>
            <a:pathLst>
              <a:path h="4255206" w="3938000">
                <a:moveTo>
                  <a:pt x="0" y="0"/>
                </a:moveTo>
                <a:lnTo>
                  <a:pt x="3937999" y="0"/>
                </a:lnTo>
                <a:lnTo>
                  <a:pt x="3937999" y="4255205"/>
                </a:lnTo>
                <a:lnTo>
                  <a:pt x="0" y="425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30500" y="714343"/>
            <a:ext cx="3657600" cy="1323386"/>
          </a:xfrm>
          <a:custGeom>
            <a:avLst/>
            <a:gdLst/>
            <a:ahLst/>
            <a:cxnLst/>
            <a:rect r="r" b="b" t="t" l="l"/>
            <a:pathLst>
              <a:path h="1323386" w="3657600">
                <a:moveTo>
                  <a:pt x="0" y="0"/>
                </a:moveTo>
                <a:lnTo>
                  <a:pt x="3657600" y="0"/>
                </a:lnTo>
                <a:lnTo>
                  <a:pt x="3657600" y="1323386"/>
                </a:lnTo>
                <a:lnTo>
                  <a:pt x="0" y="1323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22627" y="450276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63840" y="9538084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64867" y="7124949"/>
            <a:ext cx="3561010" cy="3379722"/>
          </a:xfrm>
          <a:custGeom>
            <a:avLst/>
            <a:gdLst/>
            <a:ahLst/>
            <a:cxnLst/>
            <a:rect r="r" b="b" t="t" l="l"/>
            <a:pathLst>
              <a:path h="3379722" w="3561010">
                <a:moveTo>
                  <a:pt x="0" y="0"/>
                </a:moveTo>
                <a:lnTo>
                  <a:pt x="3561010" y="0"/>
                </a:lnTo>
                <a:lnTo>
                  <a:pt x="3561010" y="3379722"/>
                </a:lnTo>
                <a:lnTo>
                  <a:pt x="0" y="33797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53863" y="3157664"/>
            <a:ext cx="3409978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Handles non-linear relationships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Works well with complex datasets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Reduces overfitting using multiple decision trees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45164" y="3437208"/>
            <a:ext cx="337746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High accuracy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Handles outliers better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No need for feature scaling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987" y="5125937"/>
            <a:ext cx="6685845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Random Forest Classifier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42243" y="7848060"/>
            <a:ext cx="359824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Less interpretable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Slightly slower than logistic regression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55136" y="2301073"/>
            <a:ext cx="2224391" cy="52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2"/>
              </a:lnSpc>
              <a:spcBef>
                <a:spcPct val="0"/>
              </a:spcBef>
            </a:pPr>
            <a:r>
              <a:rPr lang="en-US" b="true" sz="298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Why Used 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50453" y="2206099"/>
            <a:ext cx="2236432" cy="6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7"/>
              </a:lnSpc>
              <a:spcBef>
                <a:spcPct val="0"/>
              </a:spcBef>
            </a:pPr>
            <a:r>
              <a:rPr lang="en-US" b="true" sz="3483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35862" y="6702061"/>
            <a:ext cx="4862939" cy="51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  <a:spcBef>
                <a:spcPct val="0"/>
              </a:spcBef>
            </a:pPr>
            <a:r>
              <a:rPr lang="en-US" b="true" sz="2879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50453" y="6692536"/>
            <a:ext cx="3193226" cy="5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8"/>
              </a:lnSpc>
              <a:spcBef>
                <a:spcPct val="0"/>
              </a:spcBef>
            </a:pPr>
            <a:r>
              <a:rPr lang="en-US" b="true" sz="2798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Metric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50453" y="8049673"/>
            <a:ext cx="359824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ROC-AUC Score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5570" y="0"/>
            <a:ext cx="12915772" cy="10447905"/>
          </a:xfrm>
          <a:custGeom>
            <a:avLst/>
            <a:gdLst/>
            <a:ahLst/>
            <a:cxnLst/>
            <a:rect r="r" b="b" t="t" l="l"/>
            <a:pathLst>
              <a:path h="10447905" w="12915772">
                <a:moveTo>
                  <a:pt x="0" y="0"/>
                </a:moveTo>
                <a:lnTo>
                  <a:pt x="12915772" y="0"/>
                </a:lnTo>
                <a:lnTo>
                  <a:pt x="12915772" y="10447905"/>
                </a:lnTo>
                <a:lnTo>
                  <a:pt x="0" y="1044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411985" cy="5549575"/>
          </a:xfrm>
          <a:custGeom>
            <a:avLst/>
            <a:gdLst/>
            <a:ahLst/>
            <a:cxnLst/>
            <a:rect r="r" b="b" t="t" l="l"/>
            <a:pathLst>
              <a:path h="5549575" w="12411985">
                <a:moveTo>
                  <a:pt x="0" y="0"/>
                </a:moveTo>
                <a:lnTo>
                  <a:pt x="12411985" y="0"/>
                </a:lnTo>
                <a:lnTo>
                  <a:pt x="12411985" y="5549575"/>
                </a:lnTo>
                <a:lnTo>
                  <a:pt x="0" y="5549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" t="-683" r="-1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7600" y="5549575"/>
            <a:ext cx="10790400" cy="4912296"/>
          </a:xfrm>
          <a:custGeom>
            <a:avLst/>
            <a:gdLst/>
            <a:ahLst/>
            <a:cxnLst/>
            <a:rect r="r" b="b" t="t" l="l"/>
            <a:pathLst>
              <a:path h="4912296" w="10790400">
                <a:moveTo>
                  <a:pt x="0" y="0"/>
                </a:moveTo>
                <a:lnTo>
                  <a:pt x="10790400" y="0"/>
                </a:lnTo>
                <a:lnTo>
                  <a:pt x="10790400" y="4912297"/>
                </a:lnTo>
                <a:lnTo>
                  <a:pt x="0" y="4912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768890">
            <a:off x="4170816" y="1941408"/>
            <a:ext cx="7965456" cy="10029346"/>
          </a:xfrm>
          <a:custGeom>
            <a:avLst/>
            <a:gdLst/>
            <a:ahLst/>
            <a:cxnLst/>
            <a:rect r="r" b="b" t="t" l="l"/>
            <a:pathLst>
              <a:path h="10029346" w="7965456">
                <a:moveTo>
                  <a:pt x="7965456" y="0"/>
                </a:moveTo>
                <a:lnTo>
                  <a:pt x="0" y="0"/>
                </a:lnTo>
                <a:lnTo>
                  <a:pt x="0" y="10029347"/>
                </a:lnTo>
                <a:lnTo>
                  <a:pt x="7965456" y="10029347"/>
                </a:lnTo>
                <a:lnTo>
                  <a:pt x="79654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98394">
            <a:off x="-816102" y="8164775"/>
            <a:ext cx="3912914" cy="3884456"/>
          </a:xfrm>
          <a:custGeom>
            <a:avLst/>
            <a:gdLst/>
            <a:ahLst/>
            <a:cxnLst/>
            <a:rect r="r" b="b" t="t" l="l"/>
            <a:pathLst>
              <a:path h="3884456" w="3912914">
                <a:moveTo>
                  <a:pt x="0" y="0"/>
                </a:moveTo>
                <a:lnTo>
                  <a:pt x="3912914" y="0"/>
                </a:lnTo>
                <a:lnTo>
                  <a:pt x="3912914" y="3884456"/>
                </a:lnTo>
                <a:lnTo>
                  <a:pt x="0" y="3884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92884" y="1762971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512" y="8957458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4"/>
                </a:lnTo>
                <a:lnTo>
                  <a:pt x="0" y="601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61854" y="1762971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26061" y="-1023447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8" y="0"/>
                </a:lnTo>
                <a:lnTo>
                  <a:pt x="2304828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3479020" y="1762971"/>
          <a:ext cx="9844088" cy="3771900"/>
        </p:xfrm>
        <a:graphic>
          <a:graphicData uri="http://schemas.openxmlformats.org/presentationml/2006/ole">
            <p:oleObj imgW="11811000" imgH="57404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6540981" y="762822"/>
            <a:ext cx="4510760" cy="46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b="true" sz="264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Vs Random Forest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866799" y="7409593"/>
            <a:ext cx="12722478" cy="2519203"/>
            <a:chOff x="0" y="0"/>
            <a:chExt cx="3350776" cy="6634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50776" cy="663494"/>
            </a:xfrm>
            <a:custGeom>
              <a:avLst/>
              <a:gdLst/>
              <a:ahLst/>
              <a:cxnLst/>
              <a:rect r="r" b="b" t="t" l="l"/>
              <a:pathLst>
                <a:path h="663494" w="3350776">
                  <a:moveTo>
                    <a:pt x="3350776" y="0"/>
                  </a:moveTo>
                  <a:lnTo>
                    <a:pt x="0" y="0"/>
                  </a:lnTo>
                  <a:lnTo>
                    <a:pt x="101600" y="331747"/>
                  </a:lnTo>
                  <a:lnTo>
                    <a:pt x="0" y="663494"/>
                  </a:lnTo>
                  <a:lnTo>
                    <a:pt x="3350776" y="663494"/>
                  </a:lnTo>
                  <a:lnTo>
                    <a:pt x="3249176" y="331747"/>
                  </a:lnTo>
                  <a:lnTo>
                    <a:pt x="3350776" y="0"/>
                  </a:lnTo>
                  <a:close/>
                </a:path>
              </a:pathLst>
            </a:custGeom>
            <a:solidFill>
              <a:srgbClr val="219B6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88900" y="-66675"/>
              <a:ext cx="3172976" cy="73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338803" y="7674473"/>
            <a:ext cx="14395792" cy="18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0"/>
              </a:lnSpc>
            </a:pPr>
            <a:r>
              <a:rPr lang="en-US" sz="359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Final Observation:</a:t>
            </a:r>
          </a:p>
          <a:p>
            <a:pPr algn="l" marL="500550" indent="-250275" lvl="1">
              <a:lnSpc>
                <a:spcPts val="3245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Regression is simple and interpretable.</a:t>
            </a:r>
          </a:p>
          <a:p>
            <a:pPr algn="l" marL="500550" indent="-250275" lvl="1">
              <a:lnSpc>
                <a:spcPts val="3245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</a:t>
            </a:r>
            <a:r>
              <a:rPr lang="en-US" sz="2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orest captures complex patterns and often gives higher ROC-AUC.</a:t>
            </a:r>
          </a:p>
          <a:p>
            <a:pPr algn="l" marL="500550" indent="-250275" lvl="1">
              <a:lnSpc>
                <a:spcPts val="3245"/>
              </a:lnSpc>
              <a:buFont typeface="Arial"/>
              <a:buChar char="•"/>
            </a:pPr>
            <a:r>
              <a:rPr lang="en-US" sz="2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performed better for default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5068" y="1600448"/>
            <a:ext cx="6987981" cy="4524085"/>
            <a:chOff x="0" y="0"/>
            <a:chExt cx="946411" cy="612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6411" cy="612716"/>
            </a:xfrm>
            <a:custGeom>
              <a:avLst/>
              <a:gdLst/>
              <a:ahLst/>
              <a:cxnLst/>
              <a:rect r="r" b="b" t="t" l="l"/>
              <a:pathLst>
                <a:path h="612716" w="946411">
                  <a:moveTo>
                    <a:pt x="44316" y="0"/>
                  </a:moveTo>
                  <a:lnTo>
                    <a:pt x="902096" y="0"/>
                  </a:lnTo>
                  <a:cubicBezTo>
                    <a:pt x="913849" y="0"/>
                    <a:pt x="925121" y="4669"/>
                    <a:pt x="933431" y="12980"/>
                  </a:cubicBezTo>
                  <a:cubicBezTo>
                    <a:pt x="941742" y="21291"/>
                    <a:pt x="946411" y="32562"/>
                    <a:pt x="946411" y="44316"/>
                  </a:cubicBezTo>
                  <a:lnTo>
                    <a:pt x="946411" y="568400"/>
                  </a:lnTo>
                  <a:cubicBezTo>
                    <a:pt x="946411" y="580153"/>
                    <a:pt x="941742" y="591425"/>
                    <a:pt x="933431" y="599736"/>
                  </a:cubicBezTo>
                  <a:cubicBezTo>
                    <a:pt x="925121" y="608047"/>
                    <a:pt x="913849" y="612716"/>
                    <a:pt x="902096" y="612716"/>
                  </a:cubicBezTo>
                  <a:lnTo>
                    <a:pt x="44316" y="612716"/>
                  </a:lnTo>
                  <a:cubicBezTo>
                    <a:pt x="19841" y="612716"/>
                    <a:pt x="0" y="592875"/>
                    <a:pt x="0" y="568400"/>
                  </a:cubicBezTo>
                  <a:lnTo>
                    <a:pt x="0" y="44316"/>
                  </a:lnTo>
                  <a:cubicBezTo>
                    <a:pt x="0" y="19841"/>
                    <a:pt x="19841" y="0"/>
                    <a:pt x="4431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55" r="0" b="-1455"/>
              </a:stretch>
            </a:blipFill>
            <a:ln w="66675" cap="rnd">
              <a:solidFill>
                <a:srgbClr val="2983C3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7454848">
            <a:off x="11009854" y="-3437214"/>
            <a:ext cx="7965456" cy="10029346"/>
          </a:xfrm>
          <a:custGeom>
            <a:avLst/>
            <a:gdLst/>
            <a:ahLst/>
            <a:cxnLst/>
            <a:rect r="r" b="b" t="t" l="l"/>
            <a:pathLst>
              <a:path h="10029346" w="7965456">
                <a:moveTo>
                  <a:pt x="0" y="0"/>
                </a:moveTo>
                <a:lnTo>
                  <a:pt x="7965456" y="0"/>
                </a:lnTo>
                <a:lnTo>
                  <a:pt x="7965456" y="10029346"/>
                </a:lnTo>
                <a:lnTo>
                  <a:pt x="0" y="10029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22680" y="9258300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20" y="0"/>
                </a:lnTo>
                <a:lnTo>
                  <a:pt x="2121320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82699" y="585912"/>
            <a:ext cx="2121320" cy="601683"/>
          </a:xfrm>
          <a:custGeom>
            <a:avLst/>
            <a:gdLst/>
            <a:ahLst/>
            <a:cxnLst/>
            <a:rect r="r" b="b" t="t" l="l"/>
            <a:pathLst>
              <a:path h="601683" w="2121320">
                <a:moveTo>
                  <a:pt x="0" y="0"/>
                </a:moveTo>
                <a:lnTo>
                  <a:pt x="2121319" y="0"/>
                </a:lnTo>
                <a:lnTo>
                  <a:pt x="2121319" y="601683"/>
                </a:lnTo>
                <a:lnTo>
                  <a:pt x="0" y="601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45025" y="6698959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9" y="0"/>
                </a:lnTo>
                <a:lnTo>
                  <a:pt x="2304829" y="2275494"/>
                </a:lnTo>
                <a:lnTo>
                  <a:pt x="0" y="2275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485585" y="8568981"/>
            <a:ext cx="2304829" cy="2275495"/>
          </a:xfrm>
          <a:custGeom>
            <a:avLst/>
            <a:gdLst/>
            <a:ahLst/>
            <a:cxnLst/>
            <a:rect r="r" b="b" t="t" l="l"/>
            <a:pathLst>
              <a:path h="2275495" w="2304829">
                <a:moveTo>
                  <a:pt x="0" y="0"/>
                </a:moveTo>
                <a:lnTo>
                  <a:pt x="2304828" y="0"/>
                </a:lnTo>
                <a:lnTo>
                  <a:pt x="2304828" y="2275495"/>
                </a:lnTo>
                <a:lnTo>
                  <a:pt x="0" y="22754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86250" y="2595366"/>
            <a:ext cx="7315200" cy="3923607"/>
          </a:xfrm>
          <a:custGeom>
            <a:avLst/>
            <a:gdLst/>
            <a:ahLst/>
            <a:cxnLst/>
            <a:rect r="r" b="b" t="t" l="l"/>
            <a:pathLst>
              <a:path h="3923607" w="7315200">
                <a:moveTo>
                  <a:pt x="0" y="0"/>
                </a:moveTo>
                <a:lnTo>
                  <a:pt x="7315200" y="0"/>
                </a:lnTo>
                <a:lnTo>
                  <a:pt x="7315200" y="3923607"/>
                </a:lnTo>
                <a:lnTo>
                  <a:pt x="0" y="3923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DAHCfoldvKY</dc:identifier>
  <dcterms:modified xsi:type="dcterms:W3CDTF">2011-08-01T06:04:30Z</dcterms:modified>
  <cp:revision>1</cp:revision>
  <dc:title>Machine Learning</dc:title>
</cp:coreProperties>
</file>